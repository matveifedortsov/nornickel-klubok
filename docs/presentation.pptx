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3"/>
  </p:sldIdLst>
  <p:sldSz cy="5143500" cx="9144000"/>
  <p:notesSz cx="6858000" cy="9144000"/>
  <p:embeddedFontLst>
    <p:embeddedFont>
      <p:font typeface="Proxima Nova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font" Target="fonts/ProximaNova-regular.fntdata"/><Relationship Id="rId15" Type="http://schemas.openxmlformats.org/officeDocument/2006/relationships/font" Target="fonts/ProximaNova-bold.fntdata"/><Relationship Id="rId16" Type="http://schemas.openxmlformats.org/officeDocument/2006/relationships/font" Target="fonts/ProximaNova-italic.fntdata"/><Relationship Id="rId17" Type="http://schemas.openxmlformats.org/officeDocument/2006/relationships/font" Target="fonts/ProximaNova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" name="Google Shape;1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3f02a4f90bc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" name="Google Shape;23;g3f02a4f90b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f02a4f90bc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" name="Google Shape;30;g3f02a4f90b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f02a4f90b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f02a4f90b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02a4f90bc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f02a4f90bc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TITLE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;p3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4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5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5750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/>
          <p:nvPr/>
        </p:nvSpPr>
        <p:spPr>
          <a:xfrm>
            <a:off x="1828753" y="1494183"/>
            <a:ext cx="50292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НОРНИКЕЛЬ AI SCIENCE HACK</a:t>
            </a: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/>
            </a:r>
            <a:endParaRPr b="1" sz="20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" name="Google Shape;18;p6"/>
          <p:cNvSpPr txBox="1"/>
          <p:nvPr/>
        </p:nvSpPr>
        <p:spPr>
          <a:xfrm>
            <a:off x="1828750" y="1834648"/>
            <a:ext cx="4984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00FFBF"/>
                </a:solidFill>
                <a:latin typeface="Proxima Nova"/>
                <a:ea typeface="Proxima Nova"/>
                <a:cs typeface="Proxima Nova"/>
                <a:sym typeface="Proxima Nova"/>
              </a:rPr>
              <a:t>НАУЧНЫЙ КЛУБОК</a:t>
            </a:r>
            <a:endParaRPr b="1" sz="4800">
              <a:solidFill>
                <a:srgbClr val="00FFB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" name="Google Shape;19;p6"/>
          <p:cNvSpPr txBox="1"/>
          <p:nvPr/>
        </p:nvSpPr>
        <p:spPr>
          <a:xfrm>
            <a:off x="1828750" y="2437123"/>
            <a:ext cx="5890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КАРТА ЗНАНИЙ R&amp;D</a:t>
            </a:r>
            <a:endParaRPr b="1" sz="48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" name="Google Shape;20;p6"/>
          <p:cNvSpPr/>
          <p:nvPr/>
        </p:nvSpPr>
        <p:spPr>
          <a:xfrm>
            <a:off x="1947550" y="3381750"/>
            <a:ext cx="2817900" cy="413700"/>
          </a:xfrm>
          <a:prstGeom prst="roundRect">
            <a:avLst>
              <a:gd fmla="val 50000" name="adj"/>
            </a:avLst>
          </a:prstGeom>
          <a:solidFill>
            <a:srgbClr val="530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Трек «Научный клубок»</a:t>
            </a:r>
            <a:endParaRPr b="1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latin typeface="Proxima Nova"/>
                <a:ea typeface="Proxima Nova"/>
                <a:cs typeface="Proxima Nova"/>
                <a:sym typeface="Proxima Nova"/>
              </a:rPr>
              <a:t>ПРОБЛЕМА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latin typeface="Proxima Nova"/>
                <a:ea typeface="Proxima Nova"/>
                <a:cs typeface="Proxima Nova"/>
                <a:sym typeface="Proxima Nova"/>
              </a:rPr>
              <a:t>Знания R&amp;D рассеяны — теряется институциональная память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" name="Google Shape;27;p7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Методы обессоливания воды, циркуляции католита разбросаны по отчётам и архивам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Команды дублируют литобзоры — не видят, что работа уже выполнена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Нет междисциплинарного поиска связи «режим обработки → выход металла»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Ответ на технический вопрос = ручной сбор из десятков источников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Противоречивые выводы без единой верифицированной базы знаний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latin typeface="Proxima Nova"/>
                <a:ea typeface="Proxima Nova"/>
                <a:cs typeface="Proxima Nova"/>
                <a:sym typeface="Proxima Nova"/>
              </a:rPr>
              <a:t>РЕШЕНИЕ — «НАУЧНЫЙ КЛУБОК»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3" name="Google Shape;33;p8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latin typeface="Proxima Nova"/>
                <a:ea typeface="Proxima Nova"/>
                <a:cs typeface="Proxima Nova"/>
                <a:sym typeface="Proxima Nova"/>
              </a:rPr>
              <a:t>Единая R&amp;D-карта знаний горно-металлургической отрасли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" name="Google Shape;34;p8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Граф знаний: публикации, эксперименты, материалы, оборудование, эксперты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Гибридный поиск граф + вектор — не «RAG поверх PDF»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Ответы с цитатами, уровнем достоверности и датой актуализации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Фильтры прямо в вопросе: числа (≤300 мг/л), география (РФ/мир), годы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Поиск пробелов, сравнение технологий, эксперты по теме, экспорт PDF/MD/JSON-LD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35" name="Google Shape;35;p8"/>
          <p:cNvPicPr preferRelativeResize="0"/>
          <p:nvPr/>
        </p:nvPicPr>
        <p:blipFill rotWithShape="1">
          <a:blip r:embed="rId3">
            <a:alphaModFix/>
          </a:blip>
          <a:srcRect b="0" l="12553" r="12546" t="0"/>
          <a:stretch/>
        </p:blipFill>
        <p:spPr>
          <a:xfrm>
            <a:off x="5420407" y="1091800"/>
            <a:ext cx="2696400" cy="3600000"/>
          </a:xfrm>
          <a:prstGeom prst="round2DiagRect">
            <a:avLst>
              <a:gd fmla="val 4278" name="adj1"/>
              <a:gd fmla="val 12790" name="adj2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latin typeface="Proxima Nova"/>
                <a:ea typeface="Proxima Nova"/>
                <a:cs typeface="Proxima Nova"/>
                <a:sym typeface="Proxima Nova"/>
              </a:rPr>
              <a:t>АРХИТЕКТУРА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1" name="Google Shape;41;p9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latin typeface="Proxima Nova"/>
                <a:ea typeface="Proxima Nova"/>
                <a:cs typeface="Proxima Nova"/>
                <a:sym typeface="Proxima Nova"/>
              </a:rPr>
              <a:t>LLM-агностичность · развёртывание без GPU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" name="Google Shape;42;p9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Пайплайн: парсинг → извлечение (LLM) → Neo4j (граф) + Qdrant (вектор)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Запрос: вектор → seed (fulltext) → обход 1–4 хопа → реранк → генерация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Сменные бэкенды: YandexGPT сегодня / MetalGPT-1 on-prem в проде Норникеля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Эмбеддинги локально (fastembed, ONNX) — без облачной квоты и без GPU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Ретривал 0,1–2,6 с — в бюджете требования ТЗ «3–5 с»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43" name="Google Shape;43;p9"/>
          <p:cNvPicPr preferRelativeResize="0"/>
          <p:nvPr/>
        </p:nvPicPr>
        <p:blipFill rotWithShape="1">
          <a:blip r:embed="rId3">
            <a:alphaModFix/>
          </a:blip>
          <a:srcRect b="0" l="12553" r="12546" t="0"/>
          <a:stretch/>
        </p:blipFill>
        <p:spPr>
          <a:xfrm>
            <a:off x="5764375" y="771753"/>
            <a:ext cx="2696400" cy="3600000"/>
          </a:xfrm>
          <a:prstGeom prst="round2DiagRect">
            <a:avLst>
              <a:gd fmla="val 4278" name="adj1"/>
              <a:gd fmla="val 12790" name="adj2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/>
        </p:nvSpPr>
        <p:spPr>
          <a:xfrm>
            <a:off x="342000" y="1094400"/>
            <a:ext cx="8460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10"/>
          <p:cNvSpPr txBox="1"/>
          <p:nvPr/>
        </p:nvSpPr>
        <p:spPr>
          <a:xfrm>
            <a:off x="556968" y="13204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latin typeface="Proxima Nova"/>
                <a:ea typeface="Proxima Nova"/>
                <a:cs typeface="Proxima Nova"/>
                <a:sym typeface="Proxima Nova"/>
              </a:rPr>
              <a:t>РЕЗУЛЬТАТЫ И ДЕМО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0" name="Google Shape;50;p10"/>
          <p:cNvSpPr txBox="1"/>
          <p:nvPr/>
        </p:nvSpPr>
        <p:spPr>
          <a:xfrm>
            <a:off x="556975" y="20824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latin typeface="Proxima Nova"/>
                <a:ea typeface="Proxima Nova"/>
                <a:cs typeface="Proxima Nova"/>
                <a:sym typeface="Proxima Nova"/>
              </a:rPr>
              <a:t>Работает вживую · 4 эталонных вопроса ТЗ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1" name="Google Shape;51;p10"/>
          <p:cNvSpPr txBox="1"/>
          <p:nvPr/>
        </p:nvSpPr>
        <p:spPr>
          <a:xfrm>
            <a:off x="556975" y="28778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Граф 747 узлов, 12 типов онтологии · 5 отраслевых журналов + open-access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Демо: обессоливание, циркуляция католита, Au/Ag/МПГ, шахтные воды (RU/EN)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F1 извлечения: сущности 0,64 · атрибуты 0,70 · ретривал медиана ~0,45 с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Верификация, версионирование фактов, RBAC + аудит, уведомления, дашборд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68 тестов зелёных · Docker Compose одной командой · GPU не нужен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Google Shape;25;p7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latin typeface="Proxima Nova"/>
                <a:ea typeface="Proxima Nova"/>
                <a:cs typeface="Proxima Nova"/>
                <a:sym typeface="Proxima Nova"/>
              </a:rPr>
              <a:t>ПОКРЫТИЕ ТЗ И РАЗВИТИЕ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latin typeface="Proxima Nova"/>
                <a:ea typeface="Proxima Nova"/>
                <a:cs typeface="Proxima Nova"/>
                <a:sym typeface="Proxima Nova"/>
              </a:rPr>
              <a:t>Все блоки ТЗ закрыты — от импорта и онтологии до RBAC и экспорта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" name="Google Shape;27;p7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Многопараметрические запросы: материал + процесс + условия + гео + годы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Модель верификации: источник, уровень достоверности, дата актуализации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Прод-трек: тот же код с on-prem MetalGPT-1 — клиент уже написан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Рост: полный корпус, каталог экспериментов, справочники, сотрудники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Готово к пилоту в НИИ: RBAC, аудит, экспорт отчётов в техзадания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